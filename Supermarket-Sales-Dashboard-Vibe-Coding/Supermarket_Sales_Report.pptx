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feb4239075145c1" /><Relationship Type="http://schemas.openxmlformats.org/package/2006/relationships/metadata/core-properties" Target="/docProps/core.xml" Id="R9f320f32701a41b5" /><Relationship Type="http://schemas.openxmlformats.org/officeDocument/2006/relationships/extended-properties" Target="/docProps/app.xml" Id="R0d7f1c90518544b2" /><Relationship Type="http://schemas.openxmlformats.org/officeDocument/2006/relationships/custom-properties" Target="/docProps/custom.xml" Id="R41e2bc1cbdee4b0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1293be7488de477d"/>
  </p:notesMasterIdLst>
  <p:sldIdLst>
    <p:sldId id="256" r:id="Re4fa1c699f684af1"/>
    <p:sldId id="257" r:id="R913fb9faf72c462c"/>
    <p:sldId id="258" r:id="Ra7c65fa1eacb44f7"/>
    <p:sldId id="259" r:id="R70de546f9ad7404a"/>
    <p:sldId id="260" r:id="Rd2fb41a77ae34320"/>
    <p:sldId id="261" r:id="R0799ce3e52724cfe"/>
    <p:sldId id="262" r:id="R09a56b1a74ee4188"/>
    <p:sldId id="263" r:id="R78bffec946244576"/>
    <p:sldId id="264" r:id="R4632515e80fc4f04"/>
    <p:sldId id="265" r:id="R8e59291715dd4dd0"/>
    <p:sldId id="266" r:id="Raef72dfa364f4595"/>
    <p:sldId id="267" r:id="R7c3191e24cb84f3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4fa1c699f684af1" /><Relationship Type="http://schemas.openxmlformats.org/officeDocument/2006/relationships/notesMaster" Target="/ppt/notesMasters/notesMaster1.xml" Id="R1293be7488de477d" /><Relationship Type="http://schemas.openxmlformats.org/officeDocument/2006/relationships/slide" Target="/ppt/slides/slide2.xml" Id="R913fb9faf72c462c" /><Relationship Type="http://schemas.openxmlformats.org/officeDocument/2006/relationships/slide" Target="/ppt/slides/slide3.xml" Id="Ra7c65fa1eacb44f7" /><Relationship Type="http://schemas.openxmlformats.org/officeDocument/2006/relationships/slide" Target="/ppt/slides/slide4.xml" Id="R70de546f9ad7404a" /><Relationship Type="http://schemas.openxmlformats.org/officeDocument/2006/relationships/slide" Target="/ppt/slides/slide5.xml" Id="Rd2fb41a77ae34320" /><Relationship Type="http://schemas.openxmlformats.org/officeDocument/2006/relationships/slide" Target="/ppt/slides/slide6.xml" Id="R0799ce3e52724cfe" /><Relationship Type="http://schemas.openxmlformats.org/officeDocument/2006/relationships/slide" Target="/ppt/slides/slide7.xml" Id="R09a56b1a74ee4188" /><Relationship Type="http://schemas.openxmlformats.org/officeDocument/2006/relationships/slide" Target="/ppt/slides/slide8.xml" Id="R78bffec946244576" /><Relationship Type="http://schemas.openxmlformats.org/officeDocument/2006/relationships/slide" Target="/ppt/slides/slide9.xml" Id="R4632515e80fc4f04" /><Relationship Type="http://schemas.openxmlformats.org/officeDocument/2006/relationships/slide" Target="/ppt/slides/slide10.xml" Id="R8e59291715dd4dd0" /><Relationship Type="http://schemas.openxmlformats.org/officeDocument/2006/relationships/slide" Target="/ppt/slides/slide11.xml" Id="Raef72dfa364f4595" /><Relationship Type="http://schemas.openxmlformats.org/officeDocument/2006/relationships/slide" Target="/ppt/slides/slide12.xml" Id="R7c3191e24cb84f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11f1898351045ee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d58df68692d4451" /><Relationship Type="http://schemas.openxmlformats.org/officeDocument/2006/relationships/slide" Target="/ppt/slides/slide1.xml" Id="R1431eb6a31b249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e09e9ac854f41ce" /><Relationship Type="http://schemas.openxmlformats.org/officeDocument/2006/relationships/slide" Target="/ppt/slides/slide2.xml" Id="Rec08c402d53f46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e5e6673d2c3435f" /><Relationship Type="http://schemas.openxmlformats.org/officeDocument/2006/relationships/slide" Target="/ppt/slides/slide3.xml" Id="Ra31432d1df964e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3992895c8704bba" /><Relationship Type="http://schemas.openxmlformats.org/officeDocument/2006/relationships/slide" Target="/ppt/slides/slide4.xml" Id="R04085c7525de42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b2ba4213d24d3a" /><Relationship Type="http://schemas.openxmlformats.org/officeDocument/2006/relationships/slide" Target="/ppt/slides/slide5.xml" Id="Rbd56992996a741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b61252d832d4b0c" /><Relationship Type="http://schemas.openxmlformats.org/officeDocument/2006/relationships/slide" Target="/ppt/slides/slide6.xml" Id="Rb8a00e1cceea4d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f0da23e52d54e8d" /><Relationship Type="http://schemas.openxmlformats.org/officeDocument/2006/relationships/slide" Target="/ppt/slides/slide7.xml" Id="Re8afc34b5ff843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a15882056bb46ff" /><Relationship Type="http://schemas.openxmlformats.org/officeDocument/2006/relationships/slide" Target="/ppt/slides/slide8.xml" Id="R016bb61a203144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063010937224dd0" /><Relationship Type="http://schemas.openxmlformats.org/officeDocument/2006/relationships/slide" Target="/ppt/slides/slide9.xml" Id="R09c27ca9a90d4d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1509e612682420c" /><Relationship Type="http://schemas.openxmlformats.org/officeDocument/2006/relationships/slide" Target="/ppt/slides/slide10.xml" Id="Rfd158463247643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221e239eebb4881" /><Relationship Type="http://schemas.openxmlformats.org/officeDocument/2006/relationships/slide" Target="/ppt/slides/slide11.xml" Id="Rfa9176813a894e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743392fee8e4c29" /><Relationship Type="http://schemas.openxmlformats.org/officeDocument/2006/relationships/slide" Target="/ppt/slides/slide12.xml" Id="Rc59812a7286345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500 transactions across 4 branches in 4 Indian cities. Jan–Jul 2026.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Table of Contents — 10 slides covering dataset, cleaning, KPIs, branch analysis, product/category, payment/demographics, trends, cross-analysis, insights, recommendations.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01 — Dataset Overview. 500 rows, 13 columns. Sales is a derived column: Quantity x Unit Price.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02 — Data Cleaning. 10-step pipeline. Result: 500 clean records, zero missing values.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03 — KPIs. Rs 2,44,411 total. 500 txns. Rs 488.82 avg. Rating 3.99/10. 2,768 units. Branch C leads.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04 — Branch Analysis. C leads at Rs 72,469. D has best rating 4.09. A is weakest on both metrics. 27.8% revenue gap.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05 — Products and Categories. Beverages #1 at Rs 56,108. Bakery is weakest. Top 3 products all near Rs 27,500.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06 — Payment and Demographics. UPI leads 27.8%. All methods balanced. Gender near 50/50. Members = 58.5% revenue.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07 — Monthly Trends. April peak Rs 52,570. February weakest Rs 30,068. Annual run-rate ~Rs 4.82 lakh. July is partial.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08 — Cross Analysis. Beverages leads in all 4 branches. Branch C leads every category. Branch D has high ratings but lower upsell conversion.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09 — 8 Key Insights: Branch C leads, Beverages dominates, digital payments = 54.5%, Members = 58.5%, April peak, low rating, Bakery underperforms, balanced top-3 products.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10 — 6 Recommendations: R1 scale Branch C, R2 invest in top categories, R3 February campaign, R4 loyalty conversion, R5 fix Branch A service, R6 revitalise Bakery.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8a704acb454f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5bc14d64241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cdf8e962047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b070ff56349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e1c467df64bd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c5e430a1c2d45c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c0699ce8c4c98" /><Relationship Type="http://schemas.openxmlformats.org/officeDocument/2006/relationships/notesSlide" Target="/ppt/notesSlides/notesSlide1.xml" Id="Re3c0136a3ff445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b6bda334242a6" /><Relationship Type="http://schemas.openxmlformats.org/officeDocument/2006/relationships/notesSlide" Target="/ppt/notesSlides/notesSlide2.xml" Id="R4c88b7a08a93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e422a00d648f1" /><Relationship Type="http://schemas.openxmlformats.org/officeDocument/2006/relationships/notesSlide" Target="/ppt/notesSlides/notesSlide3.xml" Id="R697f9faa423d40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5cce7cad2437c" /><Relationship Type="http://schemas.openxmlformats.org/officeDocument/2006/relationships/notesSlide" Target="/ppt/notesSlides/notesSlide4.xml" Id="R02d446338fae4d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487752c4842c2" /><Relationship Type="http://schemas.openxmlformats.org/officeDocument/2006/relationships/notesSlide" Target="/ppt/notesSlides/notesSlide5.xml" Id="R2b488caff8c847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766c4ffd74fc3" /><Relationship Type="http://schemas.openxmlformats.org/officeDocument/2006/relationships/notesSlide" Target="/ppt/notesSlides/notesSlide6.xml" Id="Readb3507381042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5cdd105f44a48" /><Relationship Type="http://schemas.openxmlformats.org/officeDocument/2006/relationships/notesSlide" Target="/ppt/notesSlides/notesSlide7.xml" Id="R92e8cfdf4d8e4b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9ba7cd35241df" /><Relationship Type="http://schemas.openxmlformats.org/officeDocument/2006/relationships/notesSlide" Target="/ppt/notesSlides/notesSlide8.xml" Id="Re8621bb12a524a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2423e35a04acd" /><Relationship Type="http://schemas.openxmlformats.org/officeDocument/2006/relationships/notesSlide" Target="/ppt/notesSlides/notesSlide9.xml" Id="Ra077c25e415c47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85549f9654a07" /><Relationship Type="http://schemas.openxmlformats.org/officeDocument/2006/relationships/notesSlide" Target="/ppt/notesSlides/notesSlide10.xml" Id="R335d6f813b534f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e7682c5174908" /><Relationship Type="http://schemas.openxmlformats.org/officeDocument/2006/relationships/notesSlide" Target="/ppt/notesSlides/notesSlide11.xml" Id="Rac3fd69657834c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9e02a4377471c" /><Relationship Type="http://schemas.openxmlformats.org/officeDocument/2006/relationships/notesSlide" Target="/ppt/notesSlides/notesSlide12.xml" Id="Radee333f9e1348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1152000"/>
            <a:ext cx="107532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</a:rPr>
              <a:t>Supermarket Sales Analysis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232000"/>
            <a:ext cx="1075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93AACD"/>
                </a:solidFill>
              </a:rPr>
              <a:t>Business Intelligence Report  |  500 Transactions  |  Jan – Jul 2026</a:t>
            </a:r>
          </a:p>
        </p:txBody>
      </p:sp>
      <p:sp>
        <p:nvSpPr>
          <p:cNvPr id="100003" name="DivLine"/>
          <p:cNvSpPr txBox="1"/>
          <p:nvPr/>
        </p:nvSpPr>
        <p:spPr>
          <a:xfrm xmlns:a="http://schemas.openxmlformats.org/drawingml/2006/main">
            <a:off x="720000" y="277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04" name="Meta"/>
          <p:cNvSpPr txBox="1"/>
          <p:nvPr/>
        </p:nvSpPr>
        <p:spPr>
          <a:xfrm xmlns:a="http://schemas.openxmlformats.org/drawingml/2006/main">
            <a:off x="720000" y="2916000"/>
            <a:ext cx="107532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7F93B2"/>
                </a:solidFill>
              </a:rPr>
              <a:t>Dataset: SUPER MARKET DATA.xlsx</a:t>
            </a:r>
          </a:p>
          <a:p xmlns:a="http://schemas.openxmlformats.org/drawingml/2006/main">
            <a:r>
              <a:rPr lang="en-US" sz="1400">
                <a:solidFill>
                  <a:srgbClr val="7F93B2"/>
                </a:solidFill>
              </a:rPr>
              <a:t>Branches: A, B, C, D  |  Cities: Bengaluru, Delhi, Jaipur, Mumbai</a:t>
            </a:r>
          </a:p>
          <a:p xmlns:a="http://schemas.openxmlformats.org/drawingml/2006/main">
            <a:r>
              <a:rPr lang="en-US" sz="1400">
                <a:solidFill>
                  <a:srgbClr val="7F93B2"/>
                </a:solidFill>
              </a:rPr>
              <a:t>Categories: 8  |  Payment Methods: 4  |  Period: Jan – Jul 2026</a:t>
            </a:r>
          </a:p>
        </p:txBody>
      </p:sp>
      <p:sp>
        <p:nvSpPr>
          <p:cNvPr id="100005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6" name="Top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07" name="SlideTitle"/>
          <p:cNvSpPr txBox="1"/>
          <p:nvPr/>
        </p:nvSpPr>
        <p:spPr>
          <a:xfrm xmlns:a="http://schemas.openxmlformats.org/drawingml/2006/main">
            <a:off x="720000" y="288000"/>
            <a:ext cx="1075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100008" name="Divider"/>
          <p:cNvSpPr txBox="1"/>
          <p:nvPr/>
        </p:nvSpPr>
        <p:spPr>
          <a:xfrm xmlns:a="http://schemas.openxmlformats.org/drawingml/2006/main">
            <a:off x="720000" y="70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09" name="TOC"/>
          <p:cNvSpPr txBox="1"/>
          <p:nvPr/>
        </p:nvSpPr>
        <p:spPr>
          <a:xfrm xmlns:a="http://schemas.openxmlformats.org/drawingml/2006/main">
            <a:off x="1080000" y="864000"/>
            <a:ext cx="972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5D3E8"/>
                </a:solidFill>
              </a:rPr>
              <a:t>01   Dataset Overview</a:t>
            </a:r>
          </a:p>
          <a:p xmlns:a="http://schemas.openxmlformats.org/drawingml/2006/main">
            <a:r>
              <a:rPr lang="en-US" sz="1700">
                <a:solidFill>
                  <a:srgbClr val="C5D3E8"/>
                </a:solidFill>
              </a:rPr>
              <a:t>02   Data Cleaning &amp; Preparation</a:t>
            </a:r>
          </a:p>
          <a:p xmlns:a="http://schemas.openxmlformats.org/drawingml/2006/main">
            <a:r>
              <a:rPr lang="en-US" sz="1700">
                <a:solidFill>
                  <a:srgbClr val="C5D3E8"/>
                </a:solidFill>
              </a:rPr>
              <a:t>03   Key Performance Indicators</a:t>
            </a:r>
          </a:p>
          <a:p xmlns:a="http://schemas.openxmlformats.org/drawingml/2006/main">
            <a:r>
              <a:rPr lang="en-US" sz="1700">
                <a:solidFill>
                  <a:srgbClr val="C5D3E8"/>
                </a:solidFill>
              </a:rPr>
              <a:t>04   Branch Performance Analysis</a:t>
            </a:r>
          </a:p>
          <a:p xmlns:a="http://schemas.openxmlformats.org/drawingml/2006/main">
            <a:r>
              <a:rPr lang="en-US" sz="1700">
                <a:solidFill>
                  <a:srgbClr val="C5D3E8"/>
                </a:solidFill>
              </a:rPr>
              <a:t>05   Product &amp; Category Analysis</a:t>
            </a:r>
          </a:p>
          <a:p xmlns:a="http://schemas.openxmlformats.org/drawingml/2006/main">
            <a:r>
              <a:rPr lang="en-US" sz="1700">
                <a:solidFill>
                  <a:srgbClr val="C5D3E8"/>
                </a:solidFill>
              </a:rPr>
              <a:t>06   Payment Methods &amp; Demographics</a:t>
            </a:r>
          </a:p>
          <a:p xmlns:a="http://schemas.openxmlformats.org/drawingml/2006/main">
            <a:r>
              <a:rPr lang="en-US" sz="1700">
                <a:solidFill>
                  <a:srgbClr val="C5D3E8"/>
                </a:solidFill>
              </a:rPr>
              <a:t>07   Sales Trends Over Time</a:t>
            </a:r>
          </a:p>
          <a:p xmlns:a="http://schemas.openxmlformats.org/drawingml/2006/main">
            <a:r>
              <a:rPr lang="en-US" sz="1700">
                <a:solidFill>
                  <a:srgbClr val="C5D3E8"/>
                </a:solidFill>
              </a:rPr>
              <a:t>08   Cross-Analysis: Branch vs Category</a:t>
            </a:r>
          </a:p>
          <a:p xmlns:a="http://schemas.openxmlformats.org/drawingml/2006/main">
            <a:r>
              <a:rPr lang="en-US" sz="1700">
                <a:solidFill>
                  <a:srgbClr val="C5D3E8"/>
                </a:solidFill>
              </a:rPr>
              <a:t>09   Key Business Insights</a:t>
            </a:r>
          </a:p>
          <a:p xmlns:a="http://schemas.openxmlformats.org/drawingml/2006/main">
            <a:r>
              <a:rPr lang="en-US" sz="1700">
                <a:solidFill>
                  <a:srgbClr val="C5D3E8"/>
                </a:solidFill>
              </a:rPr>
              <a:t>10   Recommendations &amp; Next Steps</a:t>
            </a:r>
          </a:p>
        </p:txBody>
      </p:sp>
      <p:sp>
        <p:nvSpPr>
          <p:cNvPr id="100010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11" name="Top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12" name="SlideTitle"/>
          <p:cNvSpPr txBox="1"/>
          <p:nvPr/>
        </p:nvSpPr>
        <p:spPr>
          <a:xfrm xmlns:a="http://schemas.openxmlformats.org/drawingml/2006/main">
            <a:off x="720000" y="288000"/>
            <a:ext cx="1075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01  —  Dataset Overview</a:t>
            </a:r>
          </a:p>
        </p:txBody>
      </p:sp>
      <p:sp>
        <p:nvSpPr>
          <p:cNvPr id="100013" name="Divider"/>
          <p:cNvSpPr txBox="1"/>
          <p:nvPr/>
        </p:nvSpPr>
        <p:spPr>
          <a:xfrm xmlns:a="http://schemas.openxmlformats.org/drawingml/2006/main">
            <a:off x="720000" y="70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14" name="LeftCol"/>
          <p:cNvSpPr txBox="1"/>
          <p:nvPr/>
        </p:nvSpPr>
        <p:spPr>
          <a:xfrm xmlns:a="http://schemas.openxmlformats.org/drawingml/2006/main">
            <a:off x="720000" y="828000"/>
            <a:ext cx="540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Source File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SUPER MARKET DATA.xlsx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Sheet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supermarket_sales_500_rows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Total Records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500 rows  x  13 columns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Date Range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01 Jan 2026  to  01 Jul 2026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Geography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4 Branches  (A, B, C, D)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4 Cities  (Bengaluru, Delhi, Jaipur, Mumbai)</a:t>
            </a:r>
          </a:p>
        </p:txBody>
      </p:sp>
      <p:sp>
        <p:nvSpPr>
          <p:cNvPr id="100015" name="RightCol"/>
          <p:cNvSpPr txBox="1"/>
          <p:nvPr/>
        </p:nvSpPr>
        <p:spPr>
          <a:xfrm xmlns:a="http://schemas.openxmlformats.org/drawingml/2006/main">
            <a:off x="6480000" y="828000"/>
            <a:ext cx="504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Column Schema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Invoice ID       Unique transaction identifier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Date                 Transaction date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Branch             Store branch  (A / B / C / D)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City                   Branch city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Customer Type   Member or Normal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Gender              Male or Female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Product             Product name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Category           Product category  (8 types)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Quantity            Units purchased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Unit Price          Price per unit  (Rs)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Payment           Payment method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Rating               Customer satisfaction  (1-10)</a:t>
            </a:r>
          </a:p>
          <a:p xmlns:a="http://schemas.openxmlformats.org/drawingml/2006/main">
            <a:r>
              <a:rPr lang="en-US" sz="1300">
                <a:solidFill>
                  <a:srgbClr val="93AACD"/>
                </a:solidFill>
              </a:rPr>
              <a:t>Sales                Calculated: Qty x Unit Price</a:t>
            </a:r>
          </a:p>
        </p:txBody>
      </p:sp>
      <p:sp>
        <p:nvSpPr>
          <p:cNvPr id="100016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17" name="Top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18" name="SlideTitle"/>
          <p:cNvSpPr txBox="1"/>
          <p:nvPr/>
        </p:nvSpPr>
        <p:spPr>
          <a:xfrm xmlns:a="http://schemas.openxmlformats.org/drawingml/2006/main">
            <a:off x="720000" y="288000"/>
            <a:ext cx="1075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02  —  Data Cleaning &amp; Preparation</a:t>
            </a:r>
          </a:p>
        </p:txBody>
      </p:sp>
      <p:sp>
        <p:nvSpPr>
          <p:cNvPr id="100019" name="Divider"/>
          <p:cNvSpPr txBox="1"/>
          <p:nvPr/>
        </p:nvSpPr>
        <p:spPr>
          <a:xfrm xmlns:a="http://schemas.openxmlformats.org/drawingml/2006/main">
            <a:off x="720000" y="70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20" name="StepsLabel"/>
          <p:cNvSpPr txBox="1"/>
          <p:nvPr/>
        </p:nvSpPr>
        <p:spPr>
          <a:xfrm xmlns:a="http://schemas.openxmlformats.org/drawingml/2006/main">
            <a:off x="720000" y="828000"/>
            <a:ext cx="54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A56DB"/>
                </a:solidFill>
              </a:rPr>
              <a:t>Steps Performed</a:t>
            </a:r>
          </a:p>
        </p:txBody>
      </p:sp>
      <p:sp>
        <p:nvSpPr>
          <p:cNvPr id="100021" name="Steps"/>
          <p:cNvSpPr txBox="1"/>
          <p:nvPr/>
        </p:nvSpPr>
        <p:spPr>
          <a:xfrm xmlns:a="http://schemas.openxmlformats.org/drawingml/2006/main">
            <a:off x="720000" y="1116000"/>
            <a:ext cx="576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1.  Loaded Excel file via pandas with openpyxl engine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2.  Standardised column names (stripped whitespace)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3.  Dropped fully empty rows and columns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4.  Parsed Date column to datetime (errors coerced)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5.  Coerced Quantity, Unit Price, Rating, Sales to numeric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6.  Dropped rows with missing Quantity or Unit Price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7.  Filled remaining categorical NaNs with Unknown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8.  Stripped leading/trailing whitespace from text fields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9.  Recalculated Sales = Quantity x Unit Price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10. Derived Month (YYYY-MM) and Day-of-week from Date</a:t>
            </a:r>
          </a:p>
        </p:txBody>
      </p:sp>
      <p:sp>
        <p:nvSpPr>
          <p:cNvPr id="100022" name="OutcomeLabel"/>
          <p:cNvSpPr txBox="1"/>
          <p:nvPr/>
        </p:nvSpPr>
        <p:spPr>
          <a:xfrm xmlns:a="http://schemas.openxmlformats.org/drawingml/2006/main">
            <a:off x="7200000" y="828000"/>
            <a:ext cx="43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A56DB"/>
                </a:solidFill>
              </a:rPr>
              <a:t>Outcome</a:t>
            </a:r>
          </a:p>
        </p:txBody>
      </p:sp>
      <p:sp>
        <p:nvSpPr>
          <p:cNvPr id="100023" name="Outcome"/>
          <p:cNvSpPr txBox="1"/>
          <p:nvPr/>
        </p:nvSpPr>
        <p:spPr>
          <a:xfrm xmlns:a="http://schemas.openxmlformats.org/drawingml/2006/main">
            <a:off x="7200000" y="1116000"/>
            <a:ext cx="4320000" cy="2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3AACD"/>
                </a:solidFill>
              </a:rPr>
              <a:t>0 missing values after cleaning</a:t>
            </a:r>
          </a:p>
          <a:p xmlns:a="http://schemas.openxmlformats.org/drawingml/2006/main">
            <a:r>
              <a:rPr lang="en-US" sz="1400">
                <a:solidFill>
                  <a:srgbClr val="93AACD"/>
                </a:solidFill>
              </a:rPr>
              <a:t>0 duplicate rows detected</a:t>
            </a:r>
          </a:p>
          <a:p xmlns:a="http://schemas.openxmlformats.org/drawingml/2006/main">
            <a:r>
              <a:rPr lang="en-US" sz="1400">
                <a:solidFill>
                  <a:srgbClr val="93AACD"/>
                </a:solidFill>
              </a:rPr>
              <a:t>500 valid records retained</a:t>
            </a:r>
          </a:p>
          <a:p xmlns:a="http://schemas.openxmlformats.org/drawingml/2006/main">
            <a:r>
              <a:rPr lang="en-US" sz="1400">
                <a:solidFill>
                  <a:srgbClr val="93AACD"/>
                </a:solidFill>
              </a:rPr>
              <a:t>All numeric columns correctly typed</a:t>
            </a:r>
          </a:p>
          <a:p xmlns:a="http://schemas.openxmlformats.org/drawingml/2006/main">
            <a:r>
              <a:rPr lang="en-US" sz="1400">
                <a:solidFill>
                  <a:srgbClr val="93AACD"/>
                </a:solidFill>
              </a:rPr>
              <a:t>Sales verified: Qty x Unit Price</a:t>
            </a:r>
          </a:p>
          <a:p xmlns:a="http://schemas.openxmlformats.org/drawingml/2006/main">
            <a:r>
              <a:rPr lang="en-US" sz="1400">
                <a:solidFill>
                  <a:srgbClr val="93AACD"/>
                </a:solidFill>
              </a:rPr>
              <a:t>Date range confirmed: Jan-Jul 2026</a:t>
            </a:r>
          </a:p>
          <a:p xmlns:a="http://schemas.openxmlformats.org/drawingml/2006/main">
            <a:r>
              <a:rPr lang="en-US" sz="1400">
                <a:solidFill>
                  <a:srgbClr val="93AACD"/>
                </a:solidFill>
              </a:rPr>
              <a:t>No formula errors or invalid entries</a:t>
            </a:r>
          </a:p>
        </p:txBody>
      </p:sp>
      <p:sp>
        <p:nvSpPr>
          <p:cNvPr id="100024" name="Note"/>
          <p:cNvSpPr txBox="1"/>
          <p:nvPr/>
        </p:nvSpPr>
        <p:spPr>
          <a:xfrm xmlns:a="http://schemas.openxmlformats.org/drawingml/2006/main">
            <a:off x="720000" y="5580000"/>
            <a:ext cx="107532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F93B2"/>
                </a:solidFill>
              </a:rPr>
              <a:t>Note: The dataset already contained a Sales column. It was fully recalculated to guarantee consistency with Quantity x Unit Price.</a:t>
            </a:r>
          </a:p>
        </p:txBody>
      </p:sp>
      <p:sp>
        <p:nvSpPr>
          <p:cNvPr id="100025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26" name="Top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27" name="SlideTitle"/>
          <p:cNvSpPr txBox="1"/>
          <p:nvPr/>
        </p:nvSpPr>
        <p:spPr>
          <a:xfrm xmlns:a="http://schemas.openxmlformats.org/drawingml/2006/main">
            <a:off x="720000" y="288000"/>
            <a:ext cx="1075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03  —  Key Performance Indicators</a:t>
            </a:r>
          </a:p>
        </p:txBody>
      </p:sp>
      <p:sp>
        <p:nvSpPr>
          <p:cNvPr id="100028" name="Divider"/>
          <p:cNvSpPr txBox="1"/>
          <p:nvPr/>
        </p:nvSpPr>
        <p:spPr>
          <a:xfrm xmlns:a="http://schemas.openxmlformats.org/drawingml/2006/main">
            <a:off x="720000" y="70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29" name="KPI1"/>
          <p:cNvSpPr txBox="1"/>
          <p:nvPr/>
        </p:nvSpPr>
        <p:spPr>
          <a:xfrm xmlns:a="http://schemas.openxmlformats.org/drawingml/2006/main">
            <a:off x="720000" y="1008000"/>
            <a:ext cx="19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Rs 2,44,411</a:t>
            </a:r>
          </a:p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Total Revenue</a:t>
            </a:r>
          </a:p>
        </p:txBody>
      </p:sp>
      <p:sp>
        <p:nvSpPr>
          <p:cNvPr id="100030" name="KPI2"/>
          <p:cNvSpPr txBox="1"/>
          <p:nvPr/>
        </p:nvSpPr>
        <p:spPr>
          <a:xfrm xmlns:a="http://schemas.openxmlformats.org/drawingml/2006/main">
            <a:off x="2952000" y="1008000"/>
            <a:ext cx="19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500</a:t>
            </a:r>
          </a:p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Transactions</a:t>
            </a:r>
          </a:p>
        </p:txBody>
      </p:sp>
      <p:sp>
        <p:nvSpPr>
          <p:cNvPr id="100031" name="KPI3"/>
          <p:cNvSpPr txBox="1"/>
          <p:nvPr/>
        </p:nvSpPr>
        <p:spPr>
          <a:xfrm xmlns:a="http://schemas.openxmlformats.org/drawingml/2006/main">
            <a:off x="5184000" y="1008000"/>
            <a:ext cx="19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Rs 488.82</a:t>
            </a:r>
          </a:p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Avg Sale / Txn</a:t>
            </a:r>
          </a:p>
        </p:txBody>
      </p:sp>
      <p:sp>
        <p:nvSpPr>
          <p:cNvPr id="100032" name="KPI4"/>
          <p:cNvSpPr txBox="1"/>
          <p:nvPr/>
        </p:nvSpPr>
        <p:spPr>
          <a:xfrm xmlns:a="http://schemas.openxmlformats.org/drawingml/2006/main">
            <a:off x="7416000" y="1008000"/>
            <a:ext cx="19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3.99 / 10</a:t>
            </a:r>
          </a:p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Avg Rating</a:t>
            </a:r>
          </a:p>
        </p:txBody>
      </p:sp>
      <p:sp>
        <p:nvSpPr>
          <p:cNvPr id="100033" name="KPI5"/>
          <p:cNvSpPr txBox="1"/>
          <p:nvPr/>
        </p:nvSpPr>
        <p:spPr>
          <a:xfrm xmlns:a="http://schemas.openxmlformats.org/drawingml/2006/main">
            <a:off x="9648000" y="1008000"/>
            <a:ext cx="18252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2,768</a:t>
            </a:r>
          </a:p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Units Sold</a:t>
            </a:r>
          </a:p>
        </p:txBody>
      </p:sp>
      <p:sp>
        <p:nvSpPr>
          <p:cNvPr id="100034" name="ContextLabel"/>
          <p:cNvSpPr txBox="1"/>
          <p:nvPr/>
        </p:nvSpPr>
        <p:spPr>
          <a:xfrm xmlns:a="http://schemas.openxmlformats.org/drawingml/2006/main">
            <a:off x="720000" y="2520000"/>
            <a:ext cx="107532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56DB"/>
                </a:solidFill>
              </a:rPr>
              <a:t>Performance Context</a:t>
            </a:r>
          </a:p>
        </p:txBody>
      </p:sp>
      <p:sp>
        <p:nvSpPr>
          <p:cNvPr id="100035" name="Context"/>
          <p:cNvSpPr txBox="1"/>
          <p:nvPr/>
        </p:nvSpPr>
        <p:spPr>
          <a:xfrm xmlns:a="http://schemas.openxmlformats.org/drawingml/2006/main">
            <a:off x="720000" y="2808000"/>
            <a:ext cx="10753200" cy="32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Revenue of Rs 2.44 lakh generated across 500 transactions in 6 months — strong performance for a multi-branch retail operation.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Average transaction value of Rs 488.82 indicates moderate-to-high basket sizes with multiple items per visit.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Average customer rating of 3.99/10 is below midpoint — targeted service improvements could move this above 5.0.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2,768 units sold across 8 product categories confirms healthy product diversity.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Branch C leads at Rs 72,469 while Branch A trails at Rs 52,357 — a 27.8% gap worth closing through operational improvements.</a:t>
            </a:r>
          </a:p>
        </p:txBody>
      </p:sp>
      <p:sp>
        <p:nvSpPr>
          <p:cNvPr id="100036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37" name="Top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38" name="SlideTitle"/>
          <p:cNvSpPr txBox="1"/>
          <p:nvPr/>
        </p:nvSpPr>
        <p:spPr>
          <a:xfrm xmlns:a="http://schemas.openxmlformats.org/drawingml/2006/main">
            <a:off x="720000" y="288000"/>
            <a:ext cx="1075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04  —  Branch Performance Analysis</a:t>
            </a:r>
          </a:p>
        </p:txBody>
      </p:sp>
      <p:sp>
        <p:nvSpPr>
          <p:cNvPr id="100039" name="Divider"/>
          <p:cNvSpPr txBox="1"/>
          <p:nvPr/>
        </p:nvSpPr>
        <p:spPr>
          <a:xfrm xmlns:a="http://schemas.openxmlformats.org/drawingml/2006/main">
            <a:off x="720000" y="70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40" name="TableHdr"/>
          <p:cNvSpPr txBox="1"/>
          <p:nvPr/>
        </p:nvSpPr>
        <p:spPr>
          <a:xfrm xmlns:a="http://schemas.openxmlformats.org/drawingml/2006/main">
            <a:off x="720000" y="864000"/>
            <a:ext cx="107532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1A56DB"/>
                </a:solidFill>
              </a:rPr>
              <a:t>Branch      City                Total Sales      Transactions     Avg Sale/Txn     Avg Rating</a:t>
            </a:r>
          </a:p>
        </p:txBody>
      </p:sp>
      <p:sp>
        <p:nvSpPr>
          <p:cNvPr id="100041" name="HdrLine"/>
          <p:cNvSpPr txBox="1"/>
          <p:nvPr/>
        </p:nvSpPr>
        <p:spPr>
          <a:xfrm xmlns:a="http://schemas.openxmlformats.org/drawingml/2006/main">
            <a:off x="720000" y="1116000"/>
            <a:ext cx="10753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42" name="Row1"/>
          <p:cNvSpPr txBox="1"/>
          <p:nvPr/>
        </p:nvSpPr>
        <p:spPr>
          <a:xfrm xmlns:a="http://schemas.openxmlformats.org/drawingml/2006/main">
            <a:off x="720000" y="1188000"/>
            <a:ext cx="107532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7EB8FF"/>
                </a:solidFill>
              </a:rPr>
              <a:t>C  (Top)       Mumbai           Rs 72,469           143                     Rs 506.78                4.05</a:t>
            </a:r>
          </a:p>
        </p:txBody>
      </p:sp>
      <p:sp>
        <p:nvSpPr>
          <p:cNvPr id="100043" name="Row2"/>
          <p:cNvSpPr txBox="1"/>
          <p:nvPr/>
        </p:nvSpPr>
        <p:spPr>
          <a:xfrm xmlns:a="http://schemas.openxmlformats.org/drawingml/2006/main">
            <a:off x="720000" y="1476000"/>
            <a:ext cx="107532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B                  Delhi                Rs 64,116           133                     Rs 482.08                3.98</a:t>
            </a:r>
          </a:p>
        </p:txBody>
      </p:sp>
      <p:sp>
        <p:nvSpPr>
          <p:cNvPr id="100044" name="Row3"/>
          <p:cNvSpPr txBox="1"/>
          <p:nvPr/>
        </p:nvSpPr>
        <p:spPr>
          <a:xfrm xmlns:a="http://schemas.openxmlformats.org/drawingml/2006/main">
            <a:off x="720000" y="1764000"/>
            <a:ext cx="107532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D                  Bengaluru        Rs 55,468           119                     Rs 466.12                4.09</a:t>
            </a:r>
          </a:p>
        </p:txBody>
      </p:sp>
      <p:sp>
        <p:nvSpPr>
          <p:cNvPr id="100045" name="Row4"/>
          <p:cNvSpPr txBox="1"/>
          <p:nvPr/>
        </p:nvSpPr>
        <p:spPr>
          <a:xfrm xmlns:a="http://schemas.openxmlformats.org/drawingml/2006/main">
            <a:off x="720000" y="2052000"/>
            <a:ext cx="107532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3AACD"/>
                </a:solidFill>
              </a:rPr>
              <a:t>A                  Jaipur               Rs 52,357           105                     Rs 498.64                3.84</a:t>
            </a:r>
          </a:p>
        </p:txBody>
      </p:sp>
      <p:sp>
        <p:nvSpPr>
          <p:cNvPr id="100046" name="RowLine"/>
          <p:cNvSpPr txBox="1"/>
          <p:nvPr/>
        </p:nvSpPr>
        <p:spPr>
          <a:xfrm xmlns:a="http://schemas.openxmlformats.org/drawingml/2006/main">
            <a:off x="720000" y="2322000"/>
            <a:ext cx="10753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2A3A5C"/>
              </a:solidFill>
            </a:endParaRPr>
          </a:p>
        </p:txBody>
      </p:sp>
      <p:sp>
        <p:nvSpPr>
          <p:cNvPr id="100047" name="FindLabel"/>
          <p:cNvSpPr txBox="1"/>
          <p:nvPr/>
        </p:nvSpPr>
        <p:spPr>
          <a:xfrm xmlns:a="http://schemas.openxmlformats.org/drawingml/2006/main">
            <a:off x="720000" y="2520000"/>
            <a:ext cx="107532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56DB"/>
                </a:solidFill>
              </a:rPr>
              <a:t>Key Findings</a:t>
            </a:r>
          </a:p>
        </p:txBody>
      </p:sp>
      <p:sp>
        <p:nvSpPr>
          <p:cNvPr id="100048" name="Findings"/>
          <p:cNvSpPr txBox="1"/>
          <p:nvPr/>
        </p:nvSpPr>
        <p:spPr>
          <a:xfrm xmlns:a="http://schemas.openxmlformats.org/drawingml/2006/main">
            <a:off x="720000" y="2808000"/>
            <a:ext cx="10753200" cy="32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Branch C (Mumbai) is the revenue leader — 38.5% more revenue than Branch A despite only 36% more transactions. Higher average basket sizes drive this gap.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Branch D (Bengaluru) has the highest rating (4.09/10) despite ranking 3rd in revenue — strong service quality with clear growth potential.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Branch A (Jaipur) records the fewest transactions (105) and lowest rating (3.84). A targeted footfall and service quality campaign is recommended.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Branch B (Delhi) is a solid mid-performer. Optimising its product mix could push it closer to Branch C levels.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Revenue gap between Branch C and A is Rs 20,112 (27.8%) — a material and closeable gap.</a:t>
            </a:r>
          </a:p>
        </p:txBody>
      </p:sp>
      <p:sp>
        <p:nvSpPr>
          <p:cNvPr id="100049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50" name="Top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51" name="SlideTitle"/>
          <p:cNvSpPr txBox="1"/>
          <p:nvPr/>
        </p:nvSpPr>
        <p:spPr>
          <a:xfrm xmlns:a="http://schemas.openxmlformats.org/drawingml/2006/main">
            <a:off x="720000" y="288000"/>
            <a:ext cx="1075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05  —  Product &amp; Category Analysis</a:t>
            </a:r>
          </a:p>
        </p:txBody>
      </p:sp>
      <p:sp>
        <p:nvSpPr>
          <p:cNvPr id="100052" name="Divider"/>
          <p:cNvSpPr txBox="1"/>
          <p:nvPr/>
        </p:nvSpPr>
        <p:spPr>
          <a:xfrm xmlns:a="http://schemas.openxmlformats.org/drawingml/2006/main">
            <a:off x="720000" y="70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53" name="CatLabel"/>
          <p:cNvSpPr txBox="1"/>
          <p:nvPr/>
        </p:nvSpPr>
        <p:spPr>
          <a:xfrm xmlns:a="http://schemas.openxmlformats.org/drawingml/2006/main">
            <a:off x="720000" y="864000"/>
            <a:ext cx="540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Category Performance  (by Total Sales)</a:t>
            </a:r>
          </a:p>
        </p:txBody>
      </p:sp>
      <p:sp>
        <p:nvSpPr>
          <p:cNvPr id="100054" name="CatTable"/>
          <p:cNvSpPr txBox="1"/>
          <p:nvPr/>
        </p:nvSpPr>
        <p:spPr>
          <a:xfrm xmlns:a="http://schemas.openxmlformats.org/drawingml/2006/main">
            <a:off x="720000" y="1134000"/>
            <a:ext cx="5400000" cy="30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#1  Beverages           Rs 56,108   82 txns    22.96%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#2  Personal Care      Rs 45,944   73 txns    18.80%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#3  Dairy                   Rs 43,992   68 txns    18.00%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#4  Grocery               Rs 40,470   82 txns    16.56%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#5  Fruits                   Rs 23,263   44 txns      9.52%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#6  Snacks                Rs 16,993   75 txns      6.95%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#7  Vegetables          Rs 11,124   48 txns      4.55%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#8  Bakery                  Rs  6,516    28 txns      2.67%</a:t>
            </a:r>
          </a:p>
        </p:txBody>
      </p:sp>
      <p:sp>
        <p:nvSpPr>
          <p:cNvPr id="100055" name="ProdLabel"/>
          <p:cNvSpPr txBox="1"/>
          <p:nvPr/>
        </p:nvSpPr>
        <p:spPr>
          <a:xfrm xmlns:a="http://schemas.openxmlformats.org/drawingml/2006/main">
            <a:off x="6840000" y="864000"/>
            <a:ext cx="468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Top 5 Products  (by Revenue)</a:t>
            </a:r>
          </a:p>
        </p:txBody>
      </p:sp>
      <p:sp>
        <p:nvSpPr>
          <p:cNvPr id="100056" name="ProdTable"/>
          <p:cNvSpPr txBox="1"/>
          <p:nvPr/>
        </p:nvSpPr>
        <p:spPr>
          <a:xfrm xmlns:a="http://schemas.openxmlformats.org/drawingml/2006/main">
            <a:off x="6840000" y="1134000"/>
            <a:ext cx="468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#1  Cheese          Rs 27,906   126 units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#2  Coffee           Rs 27,695   153 units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#3  Shampoo       Rs 27,497   152 units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#4  Cooking Oil  Rs 21,525   142 units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#5  Tea               Rs 17,682   146 units</a:t>
            </a:r>
          </a:p>
        </p:txBody>
      </p:sp>
      <p:sp>
        <p:nvSpPr>
          <p:cNvPr id="100057" name="InsLabel"/>
          <p:cNvSpPr txBox="1"/>
          <p:nvPr/>
        </p:nvSpPr>
        <p:spPr>
          <a:xfrm xmlns:a="http://schemas.openxmlformats.org/drawingml/2006/main">
            <a:off x="720000" y="4320000"/>
            <a:ext cx="107532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56DB"/>
                </a:solidFill>
              </a:rPr>
              <a:t>Category Insights</a:t>
            </a:r>
          </a:p>
        </p:txBody>
      </p:sp>
      <p:sp>
        <p:nvSpPr>
          <p:cNvPr id="100058" name="Insights"/>
          <p:cNvSpPr txBox="1"/>
          <p:nvPr/>
        </p:nvSpPr>
        <p:spPr>
          <a:xfrm xmlns:a="http://schemas.openxmlformats.org/drawingml/2006/main">
            <a:off x="720000" y="4572000"/>
            <a:ext cx="107532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Beverages dominates at Rs 56,108 (23% of revenue) — the single most valuable category network-wide.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Personal Care ranks #2 at Rs 45,944 with fewer transactions (73) indicating a high unit price and strong margin profile.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Grocery and Beverages both have 82 transactions each — confirming these are everyday staple categories with the highest visit frequency.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Bakery generates the lowest revenue (Rs 6,516 / 28 txns) — significantly under-promoted or under-stocked.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Top 3 products (Cheese, Coffee, Shampoo) each generate ~Rs 27,500 — a balanced top-tier that reduces single-product revenue risk.</a:t>
            </a:r>
          </a:p>
        </p:txBody>
      </p:sp>
      <p:sp>
        <p:nvSpPr>
          <p:cNvPr id="100059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60" name="Top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61" name="SlideTitle"/>
          <p:cNvSpPr txBox="1"/>
          <p:nvPr/>
        </p:nvSpPr>
        <p:spPr>
          <a:xfrm xmlns:a="http://schemas.openxmlformats.org/drawingml/2006/main">
            <a:off x="720000" y="288000"/>
            <a:ext cx="1075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06  —  Payment Methods &amp; Demographics</a:t>
            </a:r>
          </a:p>
        </p:txBody>
      </p:sp>
      <p:sp>
        <p:nvSpPr>
          <p:cNvPr id="100062" name="Divider"/>
          <p:cNvSpPr txBox="1"/>
          <p:nvPr/>
        </p:nvSpPr>
        <p:spPr>
          <a:xfrm xmlns:a="http://schemas.openxmlformats.org/drawingml/2006/main">
            <a:off x="720000" y="70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63" name="PayLabel"/>
          <p:cNvSpPr txBox="1"/>
          <p:nvPr/>
        </p:nvSpPr>
        <p:spPr>
          <a:xfrm xmlns:a="http://schemas.openxmlformats.org/drawingml/2006/main">
            <a:off x="720000" y="864000"/>
            <a:ext cx="360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Payment Methods</a:t>
            </a:r>
          </a:p>
        </p:txBody>
      </p:sp>
      <p:sp>
        <p:nvSpPr>
          <p:cNvPr id="100064" name="PayTable"/>
          <p:cNvSpPr txBox="1"/>
          <p:nvPr/>
        </p:nvSpPr>
        <p:spPr>
          <a:xfrm xmlns:a="http://schemas.openxmlformats.org/drawingml/2006/main">
            <a:off x="720000" y="1134000"/>
            <a:ext cx="4320000" cy="1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UPI               Rs 67,910   127 txns   27.8%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Net Banking   Rs 65,195   126 txns   26.7%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Card              Rs 57,266   125 txns   23.4%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Cash             Rs 54,040   122 txns   22.1%</a:t>
            </a:r>
          </a:p>
        </p:txBody>
      </p:sp>
      <p:sp>
        <p:nvSpPr>
          <p:cNvPr id="100065" name="GenLabel"/>
          <p:cNvSpPr txBox="1"/>
          <p:nvPr/>
        </p:nvSpPr>
        <p:spPr>
          <a:xfrm xmlns:a="http://schemas.openxmlformats.org/drawingml/2006/main">
            <a:off x="5580000" y="864000"/>
            <a:ext cx="288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Gender Split</a:t>
            </a:r>
          </a:p>
        </p:txBody>
      </p:sp>
      <p:sp>
        <p:nvSpPr>
          <p:cNvPr id="100066" name="GenTable"/>
          <p:cNvSpPr txBox="1"/>
          <p:nvPr/>
        </p:nvSpPr>
        <p:spPr>
          <a:xfrm xmlns:a="http://schemas.openxmlformats.org/drawingml/2006/main">
            <a:off x="5580000" y="1134000"/>
            <a:ext cx="28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Female   Rs 1,23,954   255 txns   50.7%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Male       Rs 1,20,457   245 txns   49.3%</a:t>
            </a:r>
          </a:p>
        </p:txBody>
      </p:sp>
      <p:sp>
        <p:nvSpPr>
          <p:cNvPr id="100067" name="CustLabel"/>
          <p:cNvSpPr txBox="1"/>
          <p:nvPr/>
        </p:nvSpPr>
        <p:spPr>
          <a:xfrm xmlns:a="http://schemas.openxmlformats.org/drawingml/2006/main">
            <a:off x="9000000" y="864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Customer Type</a:t>
            </a:r>
          </a:p>
        </p:txBody>
      </p:sp>
      <p:sp>
        <p:nvSpPr>
          <p:cNvPr id="100068" name="CustTable"/>
          <p:cNvSpPr txBox="1"/>
          <p:nvPr/>
        </p:nvSpPr>
        <p:spPr>
          <a:xfrm xmlns:a="http://schemas.openxmlformats.org/drawingml/2006/main">
            <a:off x="9000000" y="1134000"/>
            <a:ext cx="252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Member   Rs 1,43,009   296 txns   58.5%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Normal    Rs 1,01,402   204 txns   41.5%</a:t>
            </a:r>
          </a:p>
        </p:txBody>
      </p:sp>
      <p:sp>
        <p:nvSpPr>
          <p:cNvPr id="100069" name="InsLabel"/>
          <p:cNvSpPr txBox="1"/>
          <p:nvPr/>
        </p:nvSpPr>
        <p:spPr>
          <a:xfrm xmlns:a="http://schemas.openxmlformats.org/drawingml/2006/main">
            <a:off x="720000" y="2952000"/>
            <a:ext cx="107532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56DB"/>
                </a:solidFill>
              </a:rPr>
              <a:t>Demographic &amp; Payment Insights</a:t>
            </a:r>
          </a:p>
        </p:txBody>
      </p:sp>
      <p:sp>
        <p:nvSpPr>
          <p:cNvPr id="100070" name="Insights"/>
          <p:cNvSpPr txBox="1"/>
          <p:nvPr/>
        </p:nvSpPr>
        <p:spPr>
          <a:xfrm xmlns:a="http://schemas.openxmlformats.org/drawingml/2006/main">
            <a:off x="720000" y="3240000"/>
            <a:ext cx="107532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UPI leads at 27.8% — reflecting India's strong digital payments adoption. Prioritise seamless UPI checkout and consider UPI-exclusive cashback offers.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All 4 payment methods are remarkably balanced (22-28% each) — a healthy, resilient payment mix with no dangerous channel dependency.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Gender split is near equal (Female 50.7% vs Male 49.3%) — confirming broad cross-gender retail appeal across all branches.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Member customers account for 58.5% of revenue from 59.2% of transactions — the loyalty programme is the single most important revenue channel to protect and grow.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Normal customers (41.5% of revenue) represent a conversion opportunity. Converting 20% of Normal to Member could add ~Rs 20,000 in incremental annual revenue.</a:t>
            </a:r>
          </a:p>
        </p:txBody>
      </p:sp>
      <p:sp>
        <p:nvSpPr>
          <p:cNvPr id="100071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72" name="Top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73" name="SlideTitle"/>
          <p:cNvSpPr txBox="1"/>
          <p:nvPr/>
        </p:nvSpPr>
        <p:spPr>
          <a:xfrm xmlns:a="http://schemas.openxmlformats.org/drawingml/2006/main">
            <a:off x="720000" y="288000"/>
            <a:ext cx="1075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07  —  Sales Trends Over Time</a:t>
            </a:r>
          </a:p>
        </p:txBody>
      </p:sp>
      <p:sp>
        <p:nvSpPr>
          <p:cNvPr id="100074" name="Divider"/>
          <p:cNvSpPr txBox="1"/>
          <p:nvPr/>
        </p:nvSpPr>
        <p:spPr>
          <a:xfrm xmlns:a="http://schemas.openxmlformats.org/drawingml/2006/main">
            <a:off x="720000" y="70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75" name="MonthLabel"/>
          <p:cNvSpPr txBox="1"/>
          <p:nvPr/>
        </p:nvSpPr>
        <p:spPr>
          <a:xfrm xmlns:a="http://schemas.openxmlformats.org/drawingml/2006/main">
            <a:off x="720000" y="864000"/>
            <a:ext cx="107532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Monthly Revenue  (Jan – Jul 2026)</a:t>
            </a:r>
          </a:p>
        </p:txBody>
      </p:sp>
      <p:sp>
        <p:nvSpPr>
          <p:cNvPr id="100076" name="MonthTable"/>
          <p:cNvSpPr txBox="1"/>
          <p:nvPr/>
        </p:nvSpPr>
        <p:spPr>
          <a:xfrm xmlns:a="http://schemas.openxmlformats.org/drawingml/2006/main">
            <a:off x="720000" y="1152000"/>
            <a:ext cx="107532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Jan 2026    Rs 43,416    |||||||||||||||||||||||   Q1 best month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Feb 2026    Rs 30,068    |||||||||||||||              Lowest full-month revenue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Mar 2026    Rs 37,306    ||||||||||||||||||||        Recovery from Feb dip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Apr 2026    Rs 52,570    ||||||||||||||||||||||||||||   PEAK MONTH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May 2026   Rs 42,542    ||||||||||||||||||||||||   Solid spring performance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Jun 2026    Rs 35,041    ||||||||||||||||              Mid-year softening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Jul 2026     Rs  3,467    ||                                   Partial month only</a:t>
            </a:r>
          </a:p>
        </p:txBody>
      </p:sp>
      <p:sp>
        <p:nvSpPr>
          <p:cNvPr id="100077" name="InsLabel"/>
          <p:cNvSpPr txBox="1"/>
          <p:nvPr/>
        </p:nvSpPr>
        <p:spPr>
          <a:xfrm xmlns:a="http://schemas.openxmlformats.org/drawingml/2006/main">
            <a:off x="720000" y="4140000"/>
            <a:ext cx="107532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56DB"/>
                </a:solidFill>
              </a:rPr>
              <a:t>Trend Insights</a:t>
            </a:r>
          </a:p>
        </p:txBody>
      </p:sp>
      <p:sp>
        <p:nvSpPr>
          <p:cNvPr id="100078" name="Insights"/>
          <p:cNvSpPr txBox="1"/>
          <p:nvPr/>
        </p:nvSpPr>
        <p:spPr>
          <a:xfrm xmlns:a="http://schemas.openxmlformats.org/drawingml/2006/main">
            <a:off x="720000" y="4392000"/>
            <a:ext cx="107532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April 2026 is the peak month at Rs 52,570 — a 75% spike over February. This likely reflects a festival or promotional event that must be planned for in advance annually.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February is the weakest full month at Rs 30,068 — 25% below the Jan-Jun average of Rs 40,154. A targeted February promotion is recommended.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Jan-Jun average of Rs 40,154/month projects an annual run-rate of ~Rs 4.82 lakh if sustained through H2.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July is partial data (1 day only) and should be excluded from trend comparisons.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The Jan-Feb dip followed by Mar recovery suggests demand cycles that can be addressed via pre-planned promotional calendars and advance inventory stocking.</a:t>
            </a:r>
          </a:p>
        </p:txBody>
      </p:sp>
      <p:sp>
        <p:nvSpPr>
          <p:cNvPr id="100079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80" name="Top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81" name="SlideTitle"/>
          <p:cNvSpPr txBox="1"/>
          <p:nvPr/>
        </p:nvSpPr>
        <p:spPr>
          <a:xfrm xmlns:a="http://schemas.openxmlformats.org/drawingml/2006/main">
            <a:off x="720000" y="288000"/>
            <a:ext cx="1075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08  —  Cross-Analysis: Branch vs Category</a:t>
            </a:r>
          </a:p>
        </p:txBody>
      </p:sp>
      <p:sp>
        <p:nvSpPr>
          <p:cNvPr id="100082" name="Divider"/>
          <p:cNvSpPr txBox="1"/>
          <p:nvPr/>
        </p:nvSpPr>
        <p:spPr>
          <a:xfrm xmlns:a="http://schemas.openxmlformats.org/drawingml/2006/main">
            <a:off x="720000" y="70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83" name="CrossLabel"/>
          <p:cNvSpPr txBox="1"/>
          <p:nvPr/>
        </p:nvSpPr>
        <p:spPr>
          <a:xfrm xmlns:a="http://schemas.openxmlformats.org/drawingml/2006/main">
            <a:off x="720000" y="864000"/>
            <a:ext cx="107532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Top Category per Branch  (from product-branch heatmap analysis)</a:t>
            </a:r>
          </a:p>
        </p:txBody>
      </p:sp>
      <p:sp>
        <p:nvSpPr>
          <p:cNvPr id="100084" name="CrossTable"/>
          <p:cNvSpPr txBox="1"/>
          <p:nvPr/>
        </p:nvSpPr>
        <p:spPr>
          <a:xfrm xmlns:a="http://schemas.openxmlformats.org/drawingml/2006/main">
            <a:off x="720000" y="1134000"/>
            <a:ext cx="107532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Branch A  (Jaipur)        Beverages leads;  Personal Care and Dairy close behind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Branch B  (Delhi)           Beverages leads;  Grocery strongly represented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Branch C  (Mumbai)      Beverages leads;  highest absolute category sales across all branches</a:t>
            </a:r>
          </a:p>
          <a:p xmlns:a="http://schemas.openxmlformats.org/drawingml/2006/main">
            <a:r>
              <a:rPr lang="en-US" sz="1400">
                <a:solidFill>
                  <a:srgbClr val="C5D3E8"/>
                </a:solidFill>
              </a:rPr>
              <a:t>Branch D  (Bengaluru)   Beverages leads;  Dairy performs above network average</a:t>
            </a:r>
          </a:p>
        </p:txBody>
      </p:sp>
      <p:sp>
        <p:nvSpPr>
          <p:cNvPr id="100085" name="PayLabel"/>
          <p:cNvSpPr txBox="1"/>
          <p:nvPr/>
        </p:nvSpPr>
        <p:spPr>
          <a:xfrm xmlns:a="http://schemas.openxmlformats.org/drawingml/2006/main">
            <a:off x="720000" y="2520000"/>
            <a:ext cx="107532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Payment Distribution by Branch</a:t>
            </a:r>
          </a:p>
        </p:txBody>
      </p:sp>
      <p:sp>
        <p:nvSpPr>
          <p:cNvPr id="100086" name="PayBranch"/>
          <p:cNvSpPr txBox="1"/>
          <p:nvPr/>
        </p:nvSpPr>
        <p:spPr>
          <a:xfrm xmlns:a="http://schemas.openxmlformats.org/drawingml/2006/main">
            <a:off x="720000" y="2772000"/>
            <a:ext cx="107532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UPI is the leading payment method in all 4 branches — consistent digital behaviour network-wide.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Cash usage remains above 20% in every branch — particularly in Jaipur (Branch A), where cash-reliant customers require continued cash infrastructure.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Net Banking is strongest in Delhi (Branch B), reflecting the tech-savvy urban demographic of the capital city.</a:t>
            </a:r>
          </a:p>
        </p:txBody>
      </p:sp>
      <p:sp>
        <p:nvSpPr>
          <p:cNvPr id="100087" name="CrossInsLabel"/>
          <p:cNvSpPr txBox="1"/>
          <p:nvPr/>
        </p:nvSpPr>
        <p:spPr>
          <a:xfrm xmlns:a="http://schemas.openxmlformats.org/drawingml/2006/main">
            <a:off x="720000" y="4320000"/>
            <a:ext cx="107532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56DB"/>
                </a:solidFill>
              </a:rPr>
              <a:t>Strategic Observations</a:t>
            </a:r>
          </a:p>
        </p:txBody>
      </p:sp>
      <p:sp>
        <p:nvSpPr>
          <p:cNvPr id="100088" name="CrossIns"/>
          <p:cNvSpPr txBox="1"/>
          <p:nvPr/>
        </p:nvSpPr>
        <p:spPr>
          <a:xfrm xmlns:a="http://schemas.openxmlformats.org/drawingml/2006/main">
            <a:off x="720000" y="4572000"/>
            <a:ext cx="10753200" cy="1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Beverages is the #1 category in every branch — a network-wide strategic priority deserving premium shelf placement, dedicated promotions, and robust stock management at all locations.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Branch C's revenue leadership spans every single category — not just one — suggesting systemically better footfall, merchandising, or store management rather than a single product advantage.</a:t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Branch D's high rating combined with mid-tier revenue indicates strong customer experience with missed upselling opportunities. Sales training could close this gap.</a:t>
            </a:r>
          </a:p>
        </p:txBody>
      </p:sp>
      <p:sp>
        <p:nvSpPr>
          <p:cNvPr id="100089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90" name="Top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91" name="SlideTitle"/>
          <p:cNvSpPr txBox="1"/>
          <p:nvPr/>
        </p:nvSpPr>
        <p:spPr>
          <a:xfrm xmlns:a="http://schemas.openxmlformats.org/drawingml/2006/main">
            <a:off x="720000" y="288000"/>
            <a:ext cx="1075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09  —  Key Business Insights</a:t>
            </a:r>
          </a:p>
        </p:txBody>
      </p:sp>
      <p:sp>
        <p:nvSpPr>
          <p:cNvPr id="100092" name="Divider"/>
          <p:cNvSpPr txBox="1"/>
          <p:nvPr/>
        </p:nvSpPr>
        <p:spPr>
          <a:xfrm xmlns:a="http://schemas.openxmlformats.org/drawingml/2006/main">
            <a:off x="720000" y="70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093" name="I1Lbl"/>
          <p:cNvSpPr txBox="1"/>
          <p:nvPr/>
        </p:nvSpPr>
        <p:spPr>
          <a:xfrm xmlns:a="http://schemas.openxmlformats.org/drawingml/2006/main">
            <a:off x="720000" y="864000"/>
            <a:ext cx="52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1A56DB"/>
                </a:solidFill>
              </a:rPr>
              <a:t>I1  Revenue Champion</a:t>
            </a:r>
          </a:p>
        </p:txBody>
      </p:sp>
      <p:sp>
        <p:nvSpPr>
          <p:cNvPr id="100094" name="I1Bdy"/>
          <p:cNvSpPr txBox="1"/>
          <p:nvPr/>
        </p:nvSpPr>
        <p:spPr>
          <a:xfrm xmlns:a="http://schemas.openxmlformats.org/drawingml/2006/main">
            <a:off x="720000" y="1098000"/>
            <a:ext cx="52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C5D3E8"/>
                </a:solidFill>
              </a:rPr>
              <a:t>Branch C (Mumbai) generates Rs 72,469 — 38.5% more than Branch A — with only 36% more transactions. Higher basket size drives this gap.</a:t>
            </a:r>
          </a:p>
        </p:txBody>
      </p:sp>
      <p:sp>
        <p:nvSpPr>
          <p:cNvPr id="100095" name="I2Lbl"/>
          <p:cNvSpPr txBox="1"/>
          <p:nvPr/>
        </p:nvSpPr>
        <p:spPr>
          <a:xfrm xmlns:a="http://schemas.openxmlformats.org/drawingml/2006/main">
            <a:off x="720000" y="1872000"/>
            <a:ext cx="52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1A56DB"/>
                </a:solidFill>
              </a:rPr>
              <a:t>I2  Category Dominance</a:t>
            </a:r>
          </a:p>
        </p:txBody>
      </p:sp>
      <p:sp>
        <p:nvSpPr>
          <p:cNvPr id="100096" name="I2Bdy"/>
          <p:cNvSpPr txBox="1"/>
          <p:nvPr/>
        </p:nvSpPr>
        <p:spPr>
          <a:xfrm xmlns:a="http://schemas.openxmlformats.org/drawingml/2006/main">
            <a:off x="720000" y="2106000"/>
            <a:ext cx="52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C5D3E8"/>
                </a:solidFill>
              </a:rPr>
              <a:t>Beverages (23%) and Personal Care (19%) together account for 42% of total revenue across just 30% of transactions — highest-value segments.</a:t>
            </a:r>
          </a:p>
        </p:txBody>
      </p:sp>
      <p:sp>
        <p:nvSpPr>
          <p:cNvPr id="100097" name="I3Lbl"/>
          <p:cNvSpPr txBox="1"/>
          <p:nvPr/>
        </p:nvSpPr>
        <p:spPr>
          <a:xfrm xmlns:a="http://schemas.openxmlformats.org/drawingml/2006/main">
            <a:off x="720000" y="2880000"/>
            <a:ext cx="52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1A56DB"/>
                </a:solidFill>
              </a:rPr>
              <a:t>I3  Digital Payment Shift</a:t>
            </a:r>
          </a:p>
        </p:txBody>
      </p:sp>
      <p:sp>
        <p:nvSpPr>
          <p:cNvPr id="100098" name="I3Bdy"/>
          <p:cNvSpPr txBox="1"/>
          <p:nvPr/>
        </p:nvSpPr>
        <p:spPr>
          <a:xfrm xmlns:a="http://schemas.openxmlformats.org/drawingml/2006/main">
            <a:off x="720000" y="3114000"/>
            <a:ext cx="52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C5D3E8"/>
                </a:solidFill>
              </a:rPr>
              <a:t>UPI (27.8%) and Net Banking (26.7%) together = 54.5% of revenue — over half of all sales are now fully digital.</a:t>
            </a:r>
          </a:p>
        </p:txBody>
      </p:sp>
      <p:sp>
        <p:nvSpPr>
          <p:cNvPr id="100099" name="I4Lbl"/>
          <p:cNvSpPr txBox="1"/>
          <p:nvPr/>
        </p:nvSpPr>
        <p:spPr>
          <a:xfrm xmlns:a="http://schemas.openxmlformats.org/drawingml/2006/main">
            <a:off x="720000" y="3888000"/>
            <a:ext cx="52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1A56DB"/>
                </a:solidFill>
              </a:rPr>
              <a:t>I4  Loyalty Programme Value</a:t>
            </a:r>
          </a:p>
        </p:txBody>
      </p:sp>
      <p:sp>
        <p:nvSpPr>
          <p:cNvPr id="100100" name="I4Bdy"/>
          <p:cNvSpPr txBox="1"/>
          <p:nvPr/>
        </p:nvSpPr>
        <p:spPr>
          <a:xfrm xmlns:a="http://schemas.openxmlformats.org/drawingml/2006/main">
            <a:off x="720000" y="4122000"/>
            <a:ext cx="52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C5D3E8"/>
                </a:solidFill>
              </a:rPr>
              <a:t>Members generate 58.5% of revenue (Rs 1,43,009) from 59.2% of transactions — the loyalty programme is the single most impactful sales channel.</a:t>
            </a:r>
          </a:p>
        </p:txBody>
      </p:sp>
      <p:sp>
        <p:nvSpPr>
          <p:cNvPr id="100101" name="I5Lbl"/>
          <p:cNvSpPr txBox="1"/>
          <p:nvPr/>
        </p:nvSpPr>
        <p:spPr>
          <a:xfrm xmlns:a="http://schemas.openxmlformats.org/drawingml/2006/main">
            <a:off x="6660000" y="864000"/>
            <a:ext cx="48132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1A56DB"/>
                </a:solidFill>
              </a:rPr>
              <a:t>I5  April Seasonal Peak</a:t>
            </a:r>
          </a:p>
        </p:txBody>
      </p:sp>
      <p:sp>
        <p:nvSpPr>
          <p:cNvPr id="100102" name="I5Bdy"/>
          <p:cNvSpPr txBox="1"/>
          <p:nvPr/>
        </p:nvSpPr>
        <p:spPr>
          <a:xfrm xmlns:a="http://schemas.openxmlformats.org/drawingml/2006/main">
            <a:off x="6660000" y="1098000"/>
            <a:ext cx="481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C5D3E8"/>
                </a:solidFill>
              </a:rPr>
              <a:t>April 2026 peak at Rs 52,570 — 75% above February trough. Must be planned with pre-stocked inventory and marketing campaigns annually.</a:t>
            </a:r>
          </a:p>
        </p:txBody>
      </p:sp>
      <p:sp>
        <p:nvSpPr>
          <p:cNvPr id="100103" name="I6Lbl"/>
          <p:cNvSpPr txBox="1"/>
          <p:nvPr/>
        </p:nvSpPr>
        <p:spPr>
          <a:xfrm xmlns:a="http://schemas.openxmlformats.org/drawingml/2006/main">
            <a:off x="6660000" y="1872000"/>
            <a:ext cx="48132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1A56DB"/>
                </a:solidFill>
              </a:rPr>
              <a:t>I6  Rating Improvement Opportunity</a:t>
            </a:r>
          </a:p>
        </p:txBody>
      </p:sp>
      <p:sp>
        <p:nvSpPr>
          <p:cNvPr id="100104" name="I6Bdy"/>
          <p:cNvSpPr txBox="1"/>
          <p:nvPr/>
        </p:nvSpPr>
        <p:spPr>
          <a:xfrm xmlns:a="http://schemas.openxmlformats.org/drawingml/2006/main">
            <a:off x="6660000" y="2106000"/>
            <a:ext cx="481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C5D3E8"/>
                </a:solidFill>
              </a:rPr>
              <a:t>Avg rating 3.99/10 is below midpoint. Branch A trails at 3.84. A 1-point rating improvement typically correlates with 5-10% revenue uplift in retail.</a:t>
            </a:r>
          </a:p>
        </p:txBody>
      </p:sp>
      <p:sp>
        <p:nvSpPr>
          <p:cNvPr id="100105" name="I7Lbl"/>
          <p:cNvSpPr txBox="1"/>
          <p:nvPr/>
        </p:nvSpPr>
        <p:spPr>
          <a:xfrm xmlns:a="http://schemas.openxmlformats.org/drawingml/2006/main">
            <a:off x="6660000" y="2880000"/>
            <a:ext cx="48132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1A56DB"/>
                </a:solidFill>
              </a:rPr>
              <a:t>I7  Bakery Underperformance</a:t>
            </a:r>
          </a:p>
        </p:txBody>
      </p:sp>
      <p:sp>
        <p:nvSpPr>
          <p:cNvPr id="100106" name="I7Bdy"/>
          <p:cNvSpPr txBox="1"/>
          <p:nvPr/>
        </p:nvSpPr>
        <p:spPr>
          <a:xfrm xmlns:a="http://schemas.openxmlformats.org/drawingml/2006/main">
            <a:off x="6660000" y="3114000"/>
            <a:ext cx="481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C5D3E8"/>
                </a:solidFill>
              </a:rPr>
              <a:t>Bakery = Rs 6,516 (2.7%) from 28 transactions — 88% below Beverages. Fresh bakery is a proven footfall driver in retail and a major growth whitespace.</a:t>
            </a:r>
          </a:p>
        </p:txBody>
      </p:sp>
      <p:sp>
        <p:nvSpPr>
          <p:cNvPr id="100107" name="I8Lbl"/>
          <p:cNvSpPr txBox="1"/>
          <p:nvPr/>
        </p:nvSpPr>
        <p:spPr>
          <a:xfrm xmlns:a="http://schemas.openxmlformats.org/drawingml/2006/main">
            <a:off x="6660000" y="3888000"/>
            <a:ext cx="48132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1A56DB"/>
                </a:solidFill>
              </a:rPr>
              <a:t>I8  Balanced Product Portfolio</a:t>
            </a:r>
          </a:p>
        </p:txBody>
      </p:sp>
      <p:sp>
        <p:nvSpPr>
          <p:cNvPr id="100108" name="I8Bdy"/>
          <p:cNvSpPr txBox="1"/>
          <p:nvPr/>
        </p:nvSpPr>
        <p:spPr>
          <a:xfrm xmlns:a="http://schemas.openxmlformats.org/drawingml/2006/main">
            <a:off x="6660000" y="4122000"/>
            <a:ext cx="481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C5D3E8"/>
                </a:solidFill>
              </a:rPr>
              <a:t>Top 3 products (Cheese, Coffee, Shampoo) each generate ~Rs 27,500 — within 1.5% of each other, reducing SKU concentration risk.</a:t>
            </a:r>
          </a:p>
        </p:txBody>
      </p:sp>
      <p:sp>
        <p:nvSpPr>
          <p:cNvPr id="100109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110" name="TopBar"/>
          <p:cNvSpPr txBox="1"/>
          <p:nvPr/>
        </p:nvSpPr>
        <p:spPr>
          <a:xfrm xmlns:a="http://schemas.openxmlformats.org/drawingml/2006/main">
            <a:off x="0" y="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111" name="SlideTitle"/>
          <p:cNvSpPr txBox="1"/>
          <p:nvPr/>
        </p:nvSpPr>
        <p:spPr>
          <a:xfrm xmlns:a="http://schemas.openxmlformats.org/drawingml/2006/main">
            <a:off x="720000" y="288000"/>
            <a:ext cx="1075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10  —  Recommendations &amp; Next Steps</a:t>
            </a:r>
          </a:p>
        </p:txBody>
      </p:sp>
      <p:sp>
        <p:nvSpPr>
          <p:cNvPr id="100112" name="Divider"/>
          <p:cNvSpPr txBox="1"/>
          <p:nvPr/>
        </p:nvSpPr>
        <p:spPr>
          <a:xfrm xmlns:a="http://schemas.openxmlformats.org/drawingml/2006/main">
            <a:off x="720000" y="702000"/>
            <a:ext cx="1075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56DB"/>
              </a:solidFill>
            </a:endParaRPr>
          </a:p>
        </p:txBody>
      </p:sp>
      <p:sp>
        <p:nvSpPr>
          <p:cNvPr id="100113" name="R1Lbl"/>
          <p:cNvSpPr txBox="1"/>
          <p:nvPr/>
        </p:nvSpPr>
        <p:spPr>
          <a:xfrm xmlns:a="http://schemas.openxmlformats.org/drawingml/2006/main">
            <a:off x="720000" y="864000"/>
            <a:ext cx="107532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R1  Scale Branch C Best Practices</a:t>
            </a:r>
          </a:p>
        </p:txBody>
      </p:sp>
      <p:sp>
        <p:nvSpPr>
          <p:cNvPr id="100114" name="R1Bdy"/>
          <p:cNvSpPr txBox="1"/>
          <p:nvPr/>
        </p:nvSpPr>
        <p:spPr>
          <a:xfrm xmlns:a="http://schemas.openxmlformats.org/drawingml/2006/main">
            <a:off x="720000" y="1098000"/>
            <a:ext cx="107532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Audit Branch C (Mumbai) to identify drivers of its Rs 507 avg basket. Replicate staffing models, shelf layouts, and product mix at Branches A and D within Q3 2026.</a:t>
            </a:r>
          </a:p>
        </p:txBody>
      </p:sp>
      <p:sp>
        <p:nvSpPr>
          <p:cNvPr id="100115" name="R2Lbl"/>
          <p:cNvSpPr txBox="1"/>
          <p:nvPr/>
        </p:nvSpPr>
        <p:spPr>
          <a:xfrm xmlns:a="http://schemas.openxmlformats.org/drawingml/2006/main">
            <a:off x="720000" y="1620000"/>
            <a:ext cx="107532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R2  Invest in Beverages &amp; Personal Care</a:t>
            </a:r>
          </a:p>
        </p:txBody>
      </p:sp>
      <p:sp>
        <p:nvSpPr>
          <p:cNvPr id="100116" name="R2Bdy"/>
          <p:cNvSpPr txBox="1"/>
          <p:nvPr/>
        </p:nvSpPr>
        <p:spPr>
          <a:xfrm xmlns:a="http://schemas.openxmlformats.org/drawingml/2006/main">
            <a:off x="720000" y="1854000"/>
            <a:ext cx="107532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Allocate 30-35% of shelf space and marketing budget to Beverages and Personal Care. Introduce bundle promotions (e.g., Coffee + Dairy, Shampoo + Personal Care) to lift cross-category basket value.</a:t>
            </a:r>
          </a:p>
        </p:txBody>
      </p:sp>
      <p:sp>
        <p:nvSpPr>
          <p:cNvPr id="100117" name="R3Lbl"/>
          <p:cNvSpPr txBox="1"/>
          <p:nvPr/>
        </p:nvSpPr>
        <p:spPr>
          <a:xfrm xmlns:a="http://schemas.openxmlformats.org/drawingml/2006/main">
            <a:off x="720000" y="2376000"/>
            <a:ext cx="107532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R3  Launch a February Recovery Campaign</a:t>
            </a:r>
          </a:p>
        </p:txBody>
      </p:sp>
      <p:sp>
        <p:nvSpPr>
          <p:cNvPr id="100118" name="R3Bdy"/>
          <p:cNvSpPr txBox="1"/>
          <p:nvPr/>
        </p:nvSpPr>
        <p:spPr>
          <a:xfrm xmlns:a="http://schemas.openxmlformats.org/drawingml/2006/main">
            <a:off x="720000" y="2610000"/>
            <a:ext cx="107532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February is the weakest month. Plan a targeted promotion (UPI cashback, member double-points, or seasonal product launch) activated by 20 January 2027 to prevent a repeat revenue trough.</a:t>
            </a:r>
          </a:p>
        </p:txBody>
      </p:sp>
      <p:sp>
        <p:nvSpPr>
          <p:cNvPr id="100119" name="R4Lbl"/>
          <p:cNvSpPr txBox="1"/>
          <p:nvPr/>
        </p:nvSpPr>
        <p:spPr>
          <a:xfrm xmlns:a="http://schemas.openxmlformats.org/drawingml/2006/main">
            <a:off x="720000" y="3132000"/>
            <a:ext cx="107532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R4  Accelerate Loyalty Membership Conversion</a:t>
            </a:r>
          </a:p>
        </p:txBody>
      </p:sp>
      <p:sp>
        <p:nvSpPr>
          <p:cNvPr id="100120" name="R4Bdy"/>
          <p:cNvSpPr txBox="1"/>
          <p:nvPr/>
        </p:nvSpPr>
        <p:spPr>
          <a:xfrm xmlns:a="http://schemas.openxmlformats.org/drawingml/2006/main">
            <a:off x="720000" y="3366000"/>
            <a:ext cx="107532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Introduce a friction-free at-checkout member sign-up flow. A 20% Normal-to-Member conversion rate would add ~Rs 20,000 to incremental annual revenue based on current spending patterns.</a:t>
            </a:r>
          </a:p>
        </p:txBody>
      </p:sp>
      <p:sp>
        <p:nvSpPr>
          <p:cNvPr id="100121" name="R5Lbl"/>
          <p:cNvSpPr txBox="1"/>
          <p:nvPr/>
        </p:nvSpPr>
        <p:spPr>
          <a:xfrm xmlns:a="http://schemas.openxmlformats.org/drawingml/2006/main">
            <a:off x="720000" y="3888000"/>
            <a:ext cx="107532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R5  Fix Service Quality at Branch A — Target Rating 4.5+</a:t>
            </a:r>
          </a:p>
        </p:txBody>
      </p:sp>
      <p:sp>
        <p:nvSpPr>
          <p:cNvPr id="100122" name="R5Bdy"/>
          <p:cNvSpPr txBox="1"/>
          <p:nvPr/>
        </p:nvSpPr>
        <p:spPr>
          <a:xfrm xmlns:a="http://schemas.openxmlformats.org/drawingml/2006/main">
            <a:off x="720000" y="4122000"/>
            <a:ext cx="107532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Branch A (Jaipur) has the lowest rating (3.84) and fewest transactions (105). Commission a customer satisfaction survey, identify pain points, and implement staff training within 60 days.</a:t>
            </a:r>
          </a:p>
        </p:txBody>
      </p:sp>
      <p:sp>
        <p:nvSpPr>
          <p:cNvPr id="100123" name="R6Lbl"/>
          <p:cNvSpPr txBox="1"/>
          <p:nvPr/>
        </p:nvSpPr>
        <p:spPr>
          <a:xfrm xmlns:a="http://schemas.openxmlformats.org/drawingml/2006/main">
            <a:off x="720000" y="4644000"/>
            <a:ext cx="107532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56DB"/>
                </a:solidFill>
              </a:rPr>
              <a:t>R6  Revitalise the Bakery Category</a:t>
            </a:r>
          </a:p>
        </p:txBody>
      </p:sp>
      <p:sp>
        <p:nvSpPr>
          <p:cNvPr id="100124" name="R6Bdy"/>
          <p:cNvSpPr txBox="1"/>
          <p:nvPr/>
        </p:nvSpPr>
        <p:spPr>
          <a:xfrm xmlns:a="http://schemas.openxmlformats.org/drawingml/2006/main">
            <a:off x="720000" y="4878000"/>
            <a:ext cx="107532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5D3E8"/>
                </a:solidFill>
              </a:rPr>
              <a:t>Bakery is only 2.7% of revenue. Pilot an in-store fresh bakery section or cross-merchandise with Beverages (Coffee + pastry combo). Target: double Bakery revenue within 2 quarters.</a:t>
            </a:r>
          </a:p>
        </p:txBody>
      </p:sp>
      <p:sp>
        <p:nvSpPr>
          <p:cNvPr id="100125" name="Closing"/>
          <p:cNvSpPr txBox="1"/>
          <p:nvPr/>
        </p:nvSpPr>
        <p:spPr>
          <a:xfrm xmlns:a="http://schemas.openxmlformats.org/drawingml/2006/main">
            <a:off x="720000" y="5652000"/>
            <a:ext cx="107532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7EB8FF"/>
                </a:solidFill>
              </a:rPr>
              <a:t>Next Step: Review this report with branch managers and category leads at the upcoming QBR. Assign owners and measurable KPIs to each recommendation by end of current quarter.</a:t>
            </a:r>
          </a:p>
        </p:txBody>
      </p:sp>
      <p:sp>
        <p:nvSpPr>
          <p:cNvPr id="100126" name="BottomBar"/>
          <p:cNvSpPr txBox="1"/>
          <p:nvPr/>
        </p:nvSpPr>
        <p:spPr>
          <a:xfrm xmlns:a="http://schemas.openxmlformats.org/drawingml/2006/main">
            <a:off x="0" y="6642000"/>
            <a:ext cx="121932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2026-09-09T10:03:09Z</dcterms:created>
  <cp:lastModifiedBy>OfficeCLI</cp:lastModifiedBy>
  <dcterms:modified xsi:type="dcterms:W3CDTF">2026-09-09T10:03:09Z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2026-09-09T10:05:58Z</vt:lpwstr>
  </op:property>
</op:Properties>
</file>